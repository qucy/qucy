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No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otoSans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NotoSans-italic.fntdata"/><Relationship Id="rId6" Type="http://schemas.openxmlformats.org/officeDocument/2006/relationships/slide" Target="slides/slide2.xml"/><Relationship Id="rId18" Type="http://schemas.openxmlformats.org/officeDocument/2006/relationships/font" Target="fonts/Noto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99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13" Type="http://schemas.openxmlformats.org/officeDocument/2006/relationships/image" Target="../media/image45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18.png"/><Relationship Id="rId15" Type="http://schemas.openxmlformats.org/officeDocument/2006/relationships/image" Target="../media/image28.png"/><Relationship Id="rId14" Type="http://schemas.openxmlformats.org/officeDocument/2006/relationships/image" Target="../media/image33.png"/><Relationship Id="rId16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image" Target="../media/image100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Relationship Id="rId4" Type="http://schemas.openxmlformats.org/officeDocument/2006/relationships/image" Target="../media/image42.png"/><Relationship Id="rId9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51.png"/><Relationship Id="rId7" Type="http://schemas.openxmlformats.org/officeDocument/2006/relationships/image" Target="../media/image41.png"/><Relationship Id="rId8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9.png"/><Relationship Id="rId4" Type="http://schemas.openxmlformats.org/officeDocument/2006/relationships/image" Target="../media/image47.png"/><Relationship Id="rId9" Type="http://schemas.openxmlformats.org/officeDocument/2006/relationships/image" Target="../media/image35.png"/><Relationship Id="rId5" Type="http://schemas.openxmlformats.org/officeDocument/2006/relationships/image" Target="../media/image54.png"/><Relationship Id="rId6" Type="http://schemas.openxmlformats.org/officeDocument/2006/relationships/image" Target="../media/image34.png"/><Relationship Id="rId7" Type="http://schemas.openxmlformats.org/officeDocument/2006/relationships/image" Target="../media/image44.png"/><Relationship Id="rId8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8.png"/><Relationship Id="rId4" Type="http://schemas.openxmlformats.org/officeDocument/2006/relationships/image" Target="../media/image55.png"/><Relationship Id="rId9" Type="http://schemas.openxmlformats.org/officeDocument/2006/relationships/image" Target="../media/image50.png"/><Relationship Id="rId5" Type="http://schemas.openxmlformats.org/officeDocument/2006/relationships/image" Target="../media/image46.png"/><Relationship Id="rId6" Type="http://schemas.openxmlformats.org/officeDocument/2006/relationships/image" Target="../media/image59.png"/><Relationship Id="rId7" Type="http://schemas.openxmlformats.org/officeDocument/2006/relationships/image" Target="../media/image49.png"/><Relationship Id="rId8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0.png"/><Relationship Id="rId4" Type="http://schemas.openxmlformats.org/officeDocument/2006/relationships/image" Target="../media/image57.png"/><Relationship Id="rId9" Type="http://schemas.openxmlformats.org/officeDocument/2006/relationships/image" Target="../media/image7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52.png"/><Relationship Id="rId8" Type="http://schemas.openxmlformats.org/officeDocument/2006/relationships/image" Target="../media/image6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3.png"/><Relationship Id="rId4" Type="http://schemas.openxmlformats.org/officeDocument/2006/relationships/image" Target="../media/image64.png"/><Relationship Id="rId9" Type="http://schemas.openxmlformats.org/officeDocument/2006/relationships/image" Target="../media/image79.png"/><Relationship Id="rId5" Type="http://schemas.openxmlformats.org/officeDocument/2006/relationships/image" Target="../media/image60.png"/><Relationship Id="rId6" Type="http://schemas.openxmlformats.org/officeDocument/2006/relationships/image" Target="../media/image76.png"/><Relationship Id="rId7" Type="http://schemas.openxmlformats.org/officeDocument/2006/relationships/image" Target="../media/image66.png"/><Relationship Id="rId8" Type="http://schemas.openxmlformats.org/officeDocument/2006/relationships/image" Target="../media/image9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8.png"/><Relationship Id="rId4" Type="http://schemas.openxmlformats.org/officeDocument/2006/relationships/image" Target="../media/image75.png"/><Relationship Id="rId5" Type="http://schemas.openxmlformats.org/officeDocument/2006/relationships/image" Target="../media/image82.png"/><Relationship Id="rId6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95.png"/><Relationship Id="rId11" Type="http://schemas.openxmlformats.org/officeDocument/2006/relationships/image" Target="../media/image74.png"/><Relationship Id="rId22" Type="http://schemas.openxmlformats.org/officeDocument/2006/relationships/image" Target="../media/image85.png"/><Relationship Id="rId10" Type="http://schemas.openxmlformats.org/officeDocument/2006/relationships/image" Target="../media/image90.png"/><Relationship Id="rId21" Type="http://schemas.openxmlformats.org/officeDocument/2006/relationships/image" Target="../media/image84.png"/><Relationship Id="rId13" Type="http://schemas.openxmlformats.org/officeDocument/2006/relationships/image" Target="../media/image89.png"/><Relationship Id="rId1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1.png"/><Relationship Id="rId4" Type="http://schemas.openxmlformats.org/officeDocument/2006/relationships/image" Target="../media/image77.png"/><Relationship Id="rId9" Type="http://schemas.openxmlformats.org/officeDocument/2006/relationships/image" Target="../media/image94.png"/><Relationship Id="rId15" Type="http://schemas.openxmlformats.org/officeDocument/2006/relationships/image" Target="../media/image88.png"/><Relationship Id="rId14" Type="http://schemas.openxmlformats.org/officeDocument/2006/relationships/image" Target="../media/image78.png"/><Relationship Id="rId17" Type="http://schemas.openxmlformats.org/officeDocument/2006/relationships/image" Target="../media/image92.png"/><Relationship Id="rId16" Type="http://schemas.openxmlformats.org/officeDocument/2006/relationships/image" Target="../media/image87.png"/><Relationship Id="rId5" Type="http://schemas.openxmlformats.org/officeDocument/2006/relationships/image" Target="../media/image67.png"/><Relationship Id="rId19" Type="http://schemas.openxmlformats.org/officeDocument/2006/relationships/image" Target="../media/image97.png"/><Relationship Id="rId6" Type="http://schemas.openxmlformats.org/officeDocument/2006/relationships/image" Target="../media/image72.png"/><Relationship Id="rId18" Type="http://schemas.openxmlformats.org/officeDocument/2006/relationships/image" Target="../media/image96.png"/><Relationship Id="rId7" Type="http://schemas.openxmlformats.org/officeDocument/2006/relationships/image" Target="../media/image71.png"/><Relationship Id="rId8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06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4034" y="494705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5522" y="494705"/>
            <a:ext cx="32146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1303" y="494705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82791" y="494705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2237099" y="1057275"/>
            <a:ext cx="51582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4050"/>
              <a:buFont typeface="Noto Sans"/>
              <a:buNone/>
            </a:pPr>
            <a:r>
              <a:rPr b="1" i="0" lang="en-US" sz="40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中国银行业AI智能体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771775" y="1674484"/>
            <a:ext cx="3600450" cy="70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4050"/>
              <a:buFont typeface="Noto Sans"/>
              <a:buNone/>
            </a:pPr>
            <a:r>
              <a:rPr b="1" i="0" lang="en-US" sz="40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现状与未来趋势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036219" y="2691743"/>
            <a:ext cx="1071563" cy="42863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771747" y="3020355"/>
            <a:ext cx="3600478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降本增效的量化分析与战略洞察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200400" y="4263368"/>
            <a:ext cx="2743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50"/>
              <a:buFont typeface="Noto Sans"/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2025年10月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200400" y="4520543"/>
            <a:ext cx="2743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50"/>
              <a:buFont typeface="Noto Sans"/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为银行及金融科技高管决策提供支持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62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执行摘要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85750" y="957263"/>
            <a:ext cx="5524491" cy="1257300"/>
          </a:xfrm>
          <a:prstGeom prst="rect">
            <a:avLst/>
          </a:prstGeom>
          <a:solidFill>
            <a:srgbClr val="FF7F0E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85750" y="957263"/>
            <a:ext cx="35719" cy="125730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28625" y="1100138"/>
            <a:ext cx="523874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核心发现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28625" y="1428750"/>
            <a:ext cx="5238741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中国银行业AI智能体应用正处于快速发展阶段，头部银行已实现显著的降本增效，但行业整体仍处于试点探索期。国有大行和股份制银行走在前列，城商行正在加速跟进。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47173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528638" y="2428875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规模与覆盖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85750" y="2757488"/>
            <a:ext cx="5524491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工商银行、平安银行等头部机构已实现大规模部署，覆盖员工规模分别达22万和11万人，主要应用于数据分析、客户服务和营销获客场景。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34432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528638" y="3400425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量化效益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85750" y="3729038"/>
            <a:ext cx="5524491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AI智能体在银行业已实现显著的量化效益：数据分析效率提升90%，查询准确率达95%，营销转化率提升37%，平安集团年化成本节约100亿元。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441483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528638" y="4371975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挑战与风险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85750" y="4700588"/>
            <a:ext cx="5524491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银行业AI智能体部署面临数据隐私保护、模型可解释性、人机协作模式和监管合规等多重挑战，需要建立完善的风险管控机制。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095991" y="957263"/>
            <a:ext cx="828675" cy="1514475"/>
          </a:xfrm>
          <a:prstGeom prst="rect">
            <a:avLst/>
          </a:prstGeom>
          <a:solidFill>
            <a:srgbClr val="1F77B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238866" y="1100138"/>
            <a:ext cx="5429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90%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238866" y="1557338"/>
            <a:ext cx="542925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效率提升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8029575" y="957263"/>
            <a:ext cx="828675" cy="1514475"/>
          </a:xfrm>
          <a:prstGeom prst="rect">
            <a:avLst/>
          </a:prstGeom>
          <a:solidFill>
            <a:srgbClr val="1F77B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8172450" y="1100138"/>
            <a:ext cx="5429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100亿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172450" y="1943100"/>
            <a:ext cx="5429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年化成本节约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5991" y="2686050"/>
            <a:ext cx="2761059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1836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市场概况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5725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528654" y="814400"/>
            <a:ext cx="1871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AI智能体部署现状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85750" y="1143000"/>
            <a:ext cx="4214813" cy="1211563"/>
          </a:xfrm>
          <a:prstGeom prst="rect">
            <a:avLst/>
          </a:prstGeom>
          <a:solidFill>
            <a:srgbClr val="1F77B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92906" y="1250156"/>
            <a:ext cx="4000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市场发展阶段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92906" y="1521619"/>
            <a:ext cx="4000500" cy="540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中国银行业AI智能体应用始于2023年底，目前处于快速发展阶段。国有大行和股份制银行走在前列，城商行正在加速跟进。预计到2025年底，银行业科技投入将突破670亿元。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92906" y="2097388"/>
            <a:ext cx="4000500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1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数据来源：OFweek人工智能网，2025年7月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3438" y="857250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4843463" y="814388"/>
            <a:ext cx="1028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关键市场洞察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643438" y="1143000"/>
            <a:ext cx="4214813" cy="1025826"/>
          </a:xfrm>
          <a:prstGeom prst="rect">
            <a:avLst/>
          </a:prstGeom>
          <a:solidFill>
            <a:srgbClr val="1F77B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750594" y="1250156"/>
            <a:ext cx="4000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部署规模与投入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750594" y="1521619"/>
            <a:ext cx="4000500" cy="540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工商银行和平安银行在AI智能体部署规模上领先，分别覆盖22万和11万员工。大型银行年化AI投入普遍在10亿元以上，中小银行则以试点项目为主。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2497438"/>
            <a:ext cx="7143750" cy="32146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285750" y="5890720"/>
            <a:ext cx="8572500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1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数据来源：根据公开资料整理，2025年10月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115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银行案例分析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28688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550078" y="885825"/>
            <a:ext cx="2927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头部银行AI智能体部署案例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85750" y="1285875"/>
            <a:ext cx="4179094" cy="21145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285750" y="1285875"/>
            <a:ext cx="35719" cy="211455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28625" y="1428750"/>
            <a:ext cx="285750" cy="28575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3" y="150018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821531" y="1443038"/>
            <a:ext cx="203033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工商银行 - 数据洞察智能体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28625" y="1821656"/>
            <a:ext cx="3893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应用场景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28625" y="2071688"/>
            <a:ext cx="38933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面向全行易用、专业、智能的交互式数据洞察智能体，构建面向数据资产的数据语义知识库，形成面向不同业务领域的综合数据洞察能力。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28625" y="2521744"/>
            <a:ext cx="3893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量化效果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2800350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642938" y="2778919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赋能全行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100138" y="2778919"/>
            <a:ext cx="310446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22万+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410584" y="2778919"/>
            <a:ext cx="249861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员工（2万+分析人员，20万+管理营销运营人员）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625" y="3007519"/>
            <a:ext cx="12858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628650" y="2986088"/>
            <a:ext cx="8001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数据分析效率从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428750" y="2986088"/>
            <a:ext cx="10287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小时级提升至分钟级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679156" y="1285875"/>
            <a:ext cx="4179094" cy="21145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679156" y="1285875"/>
            <a:ext cx="35719" cy="211455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822031" y="1428750"/>
            <a:ext cx="285750" cy="285750"/>
          </a:xfrm>
          <a:prstGeom prst="ellipse">
            <a:avLst/>
          </a:prstGeom>
          <a:solidFill>
            <a:srgbClr val="FF7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3469" y="150018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5214952" y="1443050"/>
            <a:ext cx="2350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平安银行 - AI技术全面应用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822031" y="1821656"/>
            <a:ext cx="3893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应用场景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822031" y="2071688"/>
            <a:ext cx="38933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AI技术在金融保险、医疗健康等领域全面应用，包括销售、核保、理赔、客服环节，以及平安银行AI辅助代码开发等。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822031" y="2521744"/>
            <a:ext cx="3893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量化效果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22031" y="2800350"/>
            <a:ext cx="12858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5022056" y="2778919"/>
            <a:ext cx="685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年化成本节约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707856" y="2778919"/>
            <a:ext cx="424746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100亿元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22031" y="3007519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5036344" y="2986088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员工开发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493544" y="2986088"/>
            <a:ext cx="473106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23,000个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966650" y="2986088"/>
            <a:ext cx="685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智能体，赋能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652450" y="2986088"/>
            <a:ext cx="245064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11万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897514" y="2986088"/>
            <a:ext cx="2286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员工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85750" y="3614738"/>
            <a:ext cx="4179000" cy="2286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85750" y="3614738"/>
            <a:ext cx="35719" cy="2286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28625" y="3757613"/>
            <a:ext cx="285750" cy="285750"/>
          </a:xfrm>
          <a:prstGeom prst="ellipse">
            <a:avLst/>
          </a:prstGeom>
          <a:solidFill>
            <a:srgbClr val="2CA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0063" y="382905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821524" y="3771900"/>
            <a:ext cx="2382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招商银行 - AI小招/AI小助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28625" y="4150519"/>
            <a:ext cx="3893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应用场景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28625" y="4400550"/>
            <a:ext cx="38933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基于语音和意图识别、金融知识图谱、智能交互、深度学习等技术，打造的拥有流动性预测、风险偏好分析、投资决策、智能推荐等多个引擎。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28625" y="4850606"/>
            <a:ext cx="3893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量化效果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8625" y="512921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614363" y="5107781"/>
            <a:ext cx="685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每月服务客户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300163" y="5107781"/>
            <a:ext cx="5715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数百万人次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8625" y="5336381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642938" y="5307806"/>
            <a:ext cx="1371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零售业务场景应用最为广泛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679156" y="3614738"/>
            <a:ext cx="4179094" cy="2286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679156" y="3614738"/>
            <a:ext cx="35719" cy="228600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822031" y="3757613"/>
            <a:ext cx="285750" cy="285750"/>
          </a:xfrm>
          <a:prstGeom prst="ellipse">
            <a:avLst/>
          </a:prstGeom>
          <a:solidFill>
            <a:srgbClr val="9467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911328" y="3829050"/>
            <a:ext cx="10715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5214938" y="3771900"/>
            <a:ext cx="185888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上海银行 - 智能问数平台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822031" y="4150519"/>
            <a:ext cx="3893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应用场景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822031" y="4400550"/>
            <a:ext cx="38933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基于国内领先大模型，结合DeepSeek大模型，通过Agent架构，增加指标、维度关联反问机制、数据加速引擎，重点聚焦对公业务、零售业务两大场景。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822031" y="4850606"/>
            <a:ext cx="3893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量化效果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822031" y="512921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5007769" y="5107781"/>
            <a:ext cx="2286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实现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236369" y="5107781"/>
            <a:ext cx="10821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"数据普惠+智能跃迁"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318563" y="5107781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双轮驱动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822031" y="5336381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4979194" y="5307806"/>
            <a:ext cx="3200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支持非技术人员通过简单问答快速获取关键数据指标和深度洞察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5068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KPI改进效果分析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286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528652" y="885825"/>
            <a:ext cx="2913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各银行AI智能体KPI改进效果对比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1250156"/>
            <a:ext cx="8572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285750" y="4143375"/>
            <a:ext cx="8572500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1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数据来源：根据公开资料整理，2025年10月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85750" y="4393406"/>
            <a:ext cx="2571750" cy="842963"/>
          </a:xfrm>
          <a:prstGeom prst="rect">
            <a:avLst/>
          </a:prstGeom>
          <a:solidFill>
            <a:srgbClr val="1F77B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906" y="4536281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/>
          <p:nvPr/>
        </p:nvSpPr>
        <p:spPr>
          <a:xfrm>
            <a:off x="553641" y="4509492"/>
            <a:ext cx="608670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 效率提升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92906" y="4786313"/>
            <a:ext cx="23574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工商银行数据分析从小时级提升至分钟级，效率提升约90%，显著加速决策流程。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286125" y="4393406"/>
            <a:ext cx="2571750" cy="842963"/>
          </a:xfrm>
          <a:prstGeom prst="rect">
            <a:avLst/>
          </a:prstGeom>
          <a:solidFill>
            <a:srgbClr val="1F77B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3281" y="4536281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3536156" y="4509492"/>
            <a:ext cx="751545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 准确率提升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393281" y="4786313"/>
            <a:ext cx="23574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中原银行智能问答准确率达95%，大幅减少人工干预和二次确认需求。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286500" y="4393406"/>
            <a:ext cx="2571750" cy="842963"/>
          </a:xfrm>
          <a:prstGeom prst="rect">
            <a:avLst/>
          </a:prstGeom>
          <a:solidFill>
            <a:srgbClr val="1F77B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3656" y="4536281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6536531" y="4509492"/>
            <a:ext cx="608670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 成本节约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393656" y="4786313"/>
            <a:ext cx="23574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平安集团通过22亿次AI服务和流程重塑，实现年化成本节约100亿元。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5065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技术架构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286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528652" y="885825"/>
            <a:ext cx="247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银行AI智能体典型技术架构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1285875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521494" y="1250156"/>
            <a:ext cx="42862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用户层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71488" y="1521619"/>
            <a:ext cx="3993356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银行员工通过自然语言交互界面与智能体交互，管理层通过决策支持界面获取洞察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2085975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521494" y="2050256"/>
            <a:ext cx="571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智能体层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71488" y="2321719"/>
            <a:ext cx="3993356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包含会话式客服智能体、数据分析智能体、工作流智能体和决策辅助智能体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750" y="288607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485775" y="2850356"/>
            <a:ext cx="7143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核心技术层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71488" y="3121819"/>
            <a:ext cx="3993356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大语言模型(LLM)作为核心，结合知识图谱、向量数据库和Agent框架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750" y="349329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485775" y="3457575"/>
            <a:ext cx="7143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基础设施层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71488" y="3729038"/>
            <a:ext cx="3993356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私有云平台为主，确保数据安全与合规，包含数据治理、安全合规和模型管理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5750" y="4293394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467916" y="4257675"/>
            <a:ext cx="42862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数据层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71488" y="4529138"/>
            <a:ext cx="3993356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整合客户数据、交易数据、风险数据和运营数据，构建银行业务知识库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79156" y="885825"/>
            <a:ext cx="4179094" cy="392906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/>
          <p:nvPr/>
        </p:nvSpPr>
        <p:spPr>
          <a:xfrm>
            <a:off x="4679156" y="4886325"/>
            <a:ext cx="4179094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1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数据来源：根据行业实践整理，2025年10月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0781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应用场景分布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286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528638" y="885825"/>
            <a:ext cx="1028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主要应用场景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1285875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/>
          <p:nvPr/>
        </p:nvSpPr>
        <p:spPr>
          <a:xfrm>
            <a:off x="528638" y="1250156"/>
            <a:ext cx="100012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数据分析智能体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85750" y="1535906"/>
            <a:ext cx="4179094" cy="578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通过自然语言交互实现数据查询、分析和可视化，将数据分析效率从小时级提升至分钟级。代表案例：工商银行数据洞察智能体、上海银行智能问数平台。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2407444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528638" y="2371725"/>
            <a:ext cx="100012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客户服务智能体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85750" y="2657475"/>
            <a:ext cx="41790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提供7×24小时智能客服，处理常见问题咨询、产品推荐和简单业务办理，准确率达90%以上。代表案例：平安银行AI客服、招商银行AI小招。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750" y="3336131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/>
          <p:nvPr/>
        </p:nvSpPr>
        <p:spPr>
          <a:xfrm>
            <a:off x="528638" y="3300413"/>
            <a:ext cx="100012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风险管控智能体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85750" y="3586163"/>
            <a:ext cx="41790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辅助风险评估、欺诈检测和合规审查，提高风险识别准确率，降低误报率。代表案例：建设银行风控智能体。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750" y="4264819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/>
          <p:nvPr/>
        </p:nvSpPr>
        <p:spPr>
          <a:xfrm>
            <a:off x="528638" y="4229100"/>
            <a:ext cx="100012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营销获客智能体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85750" y="4514850"/>
            <a:ext cx="41790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基于客户画像和行为分析，提供精准营销建议，提升转化率37%。代表案例：建设银行建融智能平台。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79156" y="928688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4943475" y="885825"/>
            <a:ext cx="1543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场景分布与价值创造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79156" y="1250156"/>
            <a:ext cx="4179094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/>
          <p:nvPr/>
        </p:nvSpPr>
        <p:spPr>
          <a:xfrm>
            <a:off x="4679156" y="4143375"/>
            <a:ext cx="4179094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1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数据来源：根据公开资料整理，2025年10月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79156" y="4293394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9"/>
          <p:cNvSpPr/>
          <p:nvPr/>
        </p:nvSpPr>
        <p:spPr>
          <a:xfrm>
            <a:off x="4879181" y="4250531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关键洞察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679156" y="4614863"/>
            <a:ext cx="4179094" cy="578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数据分析场景是当前银行业AI智能体应用最广泛的领域，占比30%，主要原因是实施门槛相对较低，且ROI明显。客户服务和营销获客场景紧随其后，合计占比40%，体现了银行业对提升客户体验和业务增长的重视。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0" name="Google Shape;2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25502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挑战与风险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286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>
            <a:off x="528638" y="885825"/>
            <a:ext cx="1200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主要挑战与风险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1285875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/>
          <p:nvPr/>
        </p:nvSpPr>
        <p:spPr>
          <a:xfrm>
            <a:off x="528638" y="1250156"/>
            <a:ext cx="100012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2728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62728"/>
                </a:solidFill>
                <a:latin typeface="Noto Sans"/>
                <a:ea typeface="Noto Sans"/>
                <a:cs typeface="Noto Sans"/>
                <a:sym typeface="Noto Sans"/>
              </a:rPr>
              <a:t>数据隐私与安全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285750" y="1535906"/>
            <a:ext cx="4179094" cy="578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银行业处理的敏感金融数据需要严格保护，AI智能体的应用增加了数据泄露风险。监管机构对数据跨境流动和第三方访问有严格限制，要求银行必须采用私有化部署方案。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" name="Google Shape;23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2407444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/>
          <p:nvPr/>
        </p:nvSpPr>
        <p:spPr>
          <a:xfrm>
            <a:off x="528638" y="2371725"/>
            <a:ext cx="8572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2728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62728"/>
                </a:solidFill>
                <a:latin typeface="Noto Sans"/>
                <a:ea typeface="Noto Sans"/>
                <a:cs typeface="Noto Sans"/>
                <a:sym typeface="Noto Sans"/>
              </a:rPr>
              <a:t>模型可解释性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285750" y="2657475"/>
            <a:ext cx="4179094" cy="578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在信贷审批、风险评估等关键决策场景中，AI模型的"黑盒"特性与银行业对透明度和可解释性的要求存在冲突，可能导致合规风险和客户信任问题。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750" y="3529013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/>
          <p:nvPr/>
        </p:nvSpPr>
        <p:spPr>
          <a:xfrm>
            <a:off x="528638" y="3493294"/>
            <a:ext cx="571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2728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62728"/>
                </a:solidFill>
                <a:latin typeface="Noto Sans"/>
                <a:ea typeface="Noto Sans"/>
                <a:cs typeface="Noto Sans"/>
                <a:sym typeface="Noto Sans"/>
              </a:rPr>
              <a:t>监管合规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285750" y="3779044"/>
            <a:ext cx="41790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中国金融监管机构正在加强对AI应用的监管，包括算法公平性、数据治理和模型风险管理。银行需要确保AI智能体符合现有和未来的监管要求。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750594" y="885825"/>
            <a:ext cx="10839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风险-收益分析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9156" y="1250156"/>
            <a:ext cx="4179094" cy="25003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/>
          <p:nvPr/>
        </p:nvSpPr>
        <p:spPr>
          <a:xfrm>
            <a:off x="4679156" y="3786188"/>
            <a:ext cx="4179094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1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数据来源：根据行业实践整理，2025年10月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79156" y="393620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0"/>
          <p:cNvSpPr/>
          <p:nvPr/>
        </p:nvSpPr>
        <p:spPr>
          <a:xfrm>
            <a:off x="4922044" y="3893344"/>
            <a:ext cx="1028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风险缓解策略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4679156" y="4257675"/>
            <a:ext cx="4179094" cy="784361"/>
          </a:xfrm>
          <a:prstGeom prst="rect">
            <a:avLst/>
          </a:prstGeom>
          <a:solidFill>
            <a:srgbClr val="2CA02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4679156" y="4257675"/>
            <a:ext cx="28575" cy="784361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786313" y="4364831"/>
            <a:ext cx="3964781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A02C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2CA02C"/>
                </a:solidFill>
                <a:latin typeface="Noto Sans"/>
                <a:ea typeface="Noto Sans"/>
                <a:cs typeface="Noto Sans"/>
                <a:sym typeface="Noto Sans"/>
              </a:rPr>
              <a:t>人机协作模式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786313" y="4614863"/>
            <a:ext cx="3964781" cy="320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采用"AI辅助人类决策"而非"AI替代人类决策"的模式，保留关键环节的人工审核和干预机制。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679156" y="5149193"/>
            <a:ext cx="4179094" cy="784361"/>
          </a:xfrm>
          <a:prstGeom prst="rect">
            <a:avLst/>
          </a:prstGeom>
          <a:solidFill>
            <a:srgbClr val="2CA02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4679156" y="5149193"/>
            <a:ext cx="28575" cy="784361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4786313" y="5256349"/>
            <a:ext cx="3964781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A02C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2CA02C"/>
                </a:solidFill>
                <a:latin typeface="Noto Sans"/>
                <a:ea typeface="Noto Sans"/>
                <a:cs typeface="Noto Sans"/>
                <a:sym typeface="Noto Sans"/>
              </a:rPr>
              <a:t>分级应用策略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786313" y="5506380"/>
            <a:ext cx="3964781" cy="320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根据业务场景的风险等级，采用不同级别的AI应用策略，高风险场景保持更多人工参与。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2" name="Google Shape;2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6495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未来趋势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286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/>
          <p:nvPr/>
        </p:nvSpPr>
        <p:spPr>
          <a:xfrm>
            <a:off x="528638" y="885825"/>
            <a:ext cx="145152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未来2-3年发展趋势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1285875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/>
          <p:nvPr/>
        </p:nvSpPr>
        <p:spPr>
          <a:xfrm>
            <a:off x="528638" y="1250156"/>
            <a:ext cx="8572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行业化智能体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285750" y="1535906"/>
            <a:ext cx="41790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针对银行特定业务场景的垂直领域智能体将成为主流，如信贷审批智能体、投资顾问智能体、合规审查智能体等，专业性和深度将大幅提升。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2214563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528638" y="2178844"/>
            <a:ext cx="12858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联邦学习与数据协作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285750" y="2464594"/>
            <a:ext cx="4179094" cy="578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在保障数据隐私的前提下，通过联邦学习技术实现跨机构数据合作与模型训练，打破数据孤岛，提升模型效果。建设银行已开始引入联邦机器学习技术。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3" name="Google Shape;27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750" y="3336131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/>
          <p:nvPr/>
        </p:nvSpPr>
        <p:spPr>
          <a:xfrm>
            <a:off x="528638" y="3300413"/>
            <a:ext cx="12858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监管趋严与合规标准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85750" y="3586163"/>
            <a:ext cx="41790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监管机构将出台更完善的AI应用规范和标准，银行需要建立AI治理框架，确保模型可解释性、公平性和透明度。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6" name="Google Shape;27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750" y="4264819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1"/>
          <p:cNvSpPr/>
          <p:nvPr/>
        </p:nvSpPr>
        <p:spPr>
          <a:xfrm>
            <a:off x="528638" y="4229100"/>
            <a:ext cx="8572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智能体市场化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285750" y="4514850"/>
            <a:ext cx="41790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将出现更多标准化的AI智能体产品和服务，中小银行可通过购买成熟解决方案快速部署，降低技术门槛。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79156" y="9286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1"/>
          <p:cNvSpPr/>
          <p:nvPr/>
        </p:nvSpPr>
        <p:spPr>
          <a:xfrm>
            <a:off x="4922044" y="885825"/>
            <a:ext cx="1200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技术成熟度曲线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79156" y="1250156"/>
            <a:ext cx="4179094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1"/>
          <p:cNvSpPr/>
          <p:nvPr/>
        </p:nvSpPr>
        <p:spPr>
          <a:xfrm>
            <a:off x="4679156" y="4143375"/>
            <a:ext cx="4179094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1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数据来源：根据行业研究整理，2025年10月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3" name="Google Shape;283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00581" y="4329119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1"/>
          <p:cNvSpPr/>
          <p:nvPr/>
        </p:nvSpPr>
        <p:spPr>
          <a:xfrm>
            <a:off x="4850606" y="4264831"/>
            <a:ext cx="685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关键洞察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679156" y="4471988"/>
            <a:ext cx="4179094" cy="578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银行业AI智能体应用正从通用型向专业化、场景化方向发展。预计到2027年，超过80%的中国银行将部署至少一种专业化AI智能体，实现业务流程自动化率提升50%以上，客户服务效率提升3-5倍。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1" name="Google Shape;2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2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战略建议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28688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2"/>
          <p:cNvSpPr/>
          <p:nvPr/>
        </p:nvSpPr>
        <p:spPr>
          <a:xfrm>
            <a:off x="550069" y="885825"/>
            <a:ext cx="1200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分阶段实施路径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481" y="1285875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2"/>
          <p:cNvSpPr/>
          <p:nvPr/>
        </p:nvSpPr>
        <p:spPr>
          <a:xfrm>
            <a:off x="664369" y="1250156"/>
            <a:ext cx="1714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第一阶段：试点与基础建设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421481" y="1521619"/>
            <a:ext cx="40433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选择数据分析和客户服务场景作为切入点，ROI最明显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21481" y="1693069"/>
            <a:ext cx="40433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建立私有化部署的基础设施，确保数据安全与合规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21481" y="1864519"/>
            <a:ext cx="40433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组建跨部门AI智能体专项团队，明确KPI与评估标准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481" y="2214563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2"/>
          <p:cNvSpPr/>
          <p:nvPr/>
        </p:nvSpPr>
        <p:spPr>
          <a:xfrm>
            <a:off x="664369" y="2178844"/>
            <a:ext cx="1428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第二阶段：扩展与深化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21481" y="2450306"/>
            <a:ext cx="40433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基于试点成果，向风险管控、营销获客等场景扩展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21481" y="2621756"/>
            <a:ext cx="40433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构建银行业务知识库和专业领域大模型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421481" y="2793206"/>
            <a:ext cx="40433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建立人机协作新模式，重新设计工作流程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6" name="Google Shape;30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481" y="3143250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2"/>
          <p:cNvSpPr/>
          <p:nvPr/>
        </p:nvSpPr>
        <p:spPr>
          <a:xfrm>
            <a:off x="664369" y="3107531"/>
            <a:ext cx="1714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A02C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2CA02C"/>
                </a:solidFill>
                <a:latin typeface="Noto Sans"/>
                <a:ea typeface="Noto Sans"/>
                <a:cs typeface="Noto Sans"/>
                <a:sym typeface="Noto Sans"/>
              </a:rPr>
              <a:t>第三阶段：全面智能化转型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21481" y="3378994"/>
            <a:ext cx="40433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实现智能体协同工作，构建智能体生态系统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421481" y="3550444"/>
            <a:ext cx="40433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推动业务模式创新，开发智能体驱动的新产品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21481" y="3721894"/>
            <a:ext cx="40433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建立AI治理框架，确保可持续发展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1" name="Google Shape;31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9156" y="9286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2"/>
          <p:cNvSpPr/>
          <p:nvPr/>
        </p:nvSpPr>
        <p:spPr>
          <a:xfrm>
            <a:off x="4922044" y="885825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优先级矩阵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4682728" y="1289447"/>
            <a:ext cx="1020161" cy="350044"/>
          </a:xfrm>
          <a:prstGeom prst="rect">
            <a:avLst/>
          </a:prstGeom>
          <a:solidFill>
            <a:srgbClr val="1F77B4">
              <a:alpha val="9803"/>
            </a:srgbClr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5702889" y="1289447"/>
            <a:ext cx="1494662" cy="350044"/>
          </a:xfrm>
          <a:prstGeom prst="rect">
            <a:avLst/>
          </a:prstGeom>
          <a:solidFill>
            <a:srgbClr val="1F77B4">
              <a:alpha val="9803"/>
            </a:srgbClr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5702889" y="1289447"/>
            <a:ext cx="1494662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高投入/高回报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7197551" y="1289447"/>
            <a:ext cx="1657127" cy="350044"/>
          </a:xfrm>
          <a:prstGeom prst="rect">
            <a:avLst/>
          </a:prstGeom>
          <a:solidFill>
            <a:srgbClr val="1F77B4">
              <a:alpha val="9803"/>
            </a:srgbClr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7197551" y="1289447"/>
            <a:ext cx="1657127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低投入/高回报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078509" y="1728788"/>
            <a:ext cx="2286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短期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955977" y="1900238"/>
            <a:ext cx="473664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(0-6个月)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5702889" y="1632347"/>
            <a:ext cx="1494662" cy="521494"/>
          </a:xfrm>
          <a:prstGeom prst="rect">
            <a:avLst/>
          </a:prstGeom>
          <a:solidFill>
            <a:srgbClr val="FF7F0E">
              <a:alpha val="20000"/>
            </a:srgbClr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6013810" y="1727002"/>
            <a:ext cx="8728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客户服务智能体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013810" y="1898452"/>
            <a:ext cx="8728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数据分析智能体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7197551" y="1632347"/>
            <a:ext cx="1657127" cy="521494"/>
          </a:xfrm>
          <a:prstGeom prst="rect">
            <a:avLst/>
          </a:prstGeom>
          <a:solidFill>
            <a:srgbClr val="2CA02C">
              <a:alpha val="20000"/>
            </a:srgbClr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7589704" y="1723430"/>
            <a:ext cx="8728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员工辅助智能体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7704004" y="1894880"/>
            <a:ext cx="6442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知识库构建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5078509" y="2246709"/>
            <a:ext cx="2286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中期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4923272" y="2418159"/>
            <a:ext cx="539046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(6-18个月)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702889" y="2150269"/>
            <a:ext cx="1494662" cy="521494"/>
          </a:xfrm>
          <a:prstGeom prst="rect">
            <a:avLst/>
          </a:prstGeom>
          <a:solidFill>
            <a:srgbClr val="2CA02C">
              <a:alpha val="20000"/>
            </a:srgbClr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6013810" y="2244923"/>
            <a:ext cx="8728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风险管控智能体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6013810" y="2416373"/>
            <a:ext cx="8728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营销获客智能体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7197551" y="2150269"/>
            <a:ext cx="1657127" cy="521494"/>
          </a:xfrm>
          <a:prstGeom prst="rect">
            <a:avLst/>
          </a:prstGeom>
          <a:solidFill>
            <a:srgbClr val="FF7F0E">
              <a:alpha val="20000"/>
            </a:srgbClr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7532554" y="2244923"/>
            <a:ext cx="987093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流程自动化智能体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7646854" y="2416373"/>
            <a:ext cx="7585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智能决策支持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078509" y="2768203"/>
            <a:ext cx="2286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长期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4941689" y="2939653"/>
            <a:ext cx="502239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(18+个月)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5702889" y="2671763"/>
            <a:ext cx="1494662" cy="521494"/>
          </a:xfrm>
          <a:prstGeom prst="rect">
            <a:avLst/>
          </a:prstGeom>
          <a:solidFill>
            <a:srgbClr val="9467BD">
              <a:alpha val="20000"/>
            </a:srgbClr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6013810" y="2768203"/>
            <a:ext cx="8728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全面智能化转型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6013810" y="2939653"/>
            <a:ext cx="8728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智能体生态系统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7197551" y="2671763"/>
            <a:ext cx="1657127" cy="521494"/>
          </a:xfrm>
          <a:prstGeom prst="rect">
            <a:avLst/>
          </a:prstGeom>
          <a:solidFill>
            <a:srgbClr val="2CA02C">
              <a:alpha val="20000"/>
            </a:srgbClr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7594616" y="2768203"/>
            <a:ext cx="8728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新业务模式探索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7537466" y="2939653"/>
            <a:ext cx="987093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• 跨行业智能体协作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79156" y="338256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2"/>
          <p:cNvSpPr/>
          <p:nvPr/>
        </p:nvSpPr>
        <p:spPr>
          <a:xfrm>
            <a:off x="4922044" y="3339703"/>
            <a:ext cx="1028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关键成功因素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679156" y="3711178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高层支持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5136356" y="3711178"/>
            <a:ext cx="2740689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：确保AI智能体战略获得高管层的全力支持和资源投入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4679156" y="3882628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人才培养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5136356" y="3882628"/>
            <a:ext cx="1823777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：建立AI人才梯队，提升全员AI素养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4679156" y="4054078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数据治理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5136356" y="4054078"/>
            <a:ext cx="21717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：加强数据质量管理，构建统一的数据标准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4679156" y="4225528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合规风控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5136356" y="4225528"/>
            <a:ext cx="2283489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：建立AI伦理与风险管理框架，确保合规运营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7" name="Google Shape;3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3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附录：数据来源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0" name="Google Shape;36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28688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3"/>
          <p:cNvSpPr/>
          <p:nvPr/>
        </p:nvSpPr>
        <p:spPr>
          <a:xfrm>
            <a:off x="507206" y="885825"/>
            <a:ext cx="1028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主要数据来源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285750" y="1250156"/>
            <a:ext cx="2143125" cy="364331"/>
          </a:xfrm>
          <a:prstGeom prst="rect">
            <a:avLst/>
          </a:prstGeom>
          <a:solidFill>
            <a:srgbClr val="1F77B4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285750" y="1250156"/>
            <a:ext cx="2143125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27500" spcFirstLastPara="1" rIns="127500" wrap="square" tIns="102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来源类型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2428875" y="1250156"/>
            <a:ext cx="3000375" cy="364331"/>
          </a:xfrm>
          <a:prstGeom prst="rect">
            <a:avLst/>
          </a:prstGeom>
          <a:solidFill>
            <a:srgbClr val="1F77B4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2428875" y="1250156"/>
            <a:ext cx="3000375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27500" spcFirstLastPara="1" rIns="127500" wrap="square" tIns="102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具体来源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5429250" y="1250156"/>
            <a:ext cx="3429000" cy="364331"/>
          </a:xfrm>
          <a:prstGeom prst="rect">
            <a:avLst/>
          </a:prstGeom>
          <a:solidFill>
            <a:srgbClr val="1F77B4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5429250" y="1250156"/>
            <a:ext cx="3429000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27500" spcFirstLastPara="1" rIns="127500" wrap="square" tIns="102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数据内容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392906" y="1693069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行业报告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2428875" y="1614488"/>
            <a:ext cx="3000375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27500" spcFirstLastPara="1" rIns="12750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毕马威2025年中国银行业调查报告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5429250" y="1614488"/>
            <a:ext cx="3429000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27500" spcFirstLastPara="1" rIns="12750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银行业AI战略与大模型演进趋势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392906" y="2014538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行业报告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2428875" y="1932384"/>
            <a:ext cx="3000375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27500" spcFirstLastPara="1" rIns="12750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BCG银行业生成式AI应用报告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5429250" y="1932384"/>
            <a:ext cx="3429000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27500" spcFirstLastPara="1" rIns="12750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银行业应用场景和价值释放数据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392906" y="2336006"/>
            <a:ext cx="685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银行官方资料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2428875" y="2253853"/>
            <a:ext cx="3000375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27500" spcFirstLastPara="1" rIns="12750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工商银行、平安银行、招商银行等官方发布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5429250" y="2253853"/>
            <a:ext cx="3429000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27500" spcFirstLastPara="1" rIns="12750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AI智能体部署案例和量化效果数据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392906" y="2657475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行业媒体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2428875" y="2575322"/>
            <a:ext cx="3000375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27500" spcFirstLastPara="1" rIns="12750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CSDN博客、OFweek人工智能网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5429250" y="2575322"/>
            <a:ext cx="3429000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27500" spcFirstLastPara="1" rIns="12750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银行AI智能体典型案例和实施效果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392906" y="2978944"/>
            <a:ext cx="5715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业绩发布会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2428875" y="2896791"/>
            <a:ext cx="3000375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27500" spcFirstLastPara="1" rIns="12750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招商银行2025年中期业绩发布会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5429250" y="2896791"/>
            <a:ext cx="3429000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27500" spcFirstLastPara="1" rIns="12750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AI小招/AI小助的应用情况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3" name="Google Shape;38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3400425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3"/>
          <p:cNvSpPr/>
          <p:nvPr/>
        </p:nvSpPr>
        <p:spPr>
          <a:xfrm>
            <a:off x="485775" y="3357563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研究方法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285750" y="3757613"/>
            <a:ext cx="4179094" cy="1428750"/>
          </a:xfrm>
          <a:prstGeom prst="rect">
            <a:avLst/>
          </a:prstGeom>
          <a:solidFill>
            <a:srgbClr val="FF7F0E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285750" y="3757613"/>
            <a:ext cx="35719" cy="142875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428625" y="3864769"/>
            <a:ext cx="3893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数据收集与分析方法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428625" y="4150519"/>
            <a:ext cx="38933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本研究采用多源数据交叉验证的方法，综合分析行业报告、银行官方发布、媒体报道和专家访谈等多种渠道的信息，确保数据的可靠性和全面性。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428625" y="4564856"/>
            <a:ext cx="389334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对于量化数据，我们优先采用银行官方披露的数据，其次是权威咨询机构的研究数据，最后是行业媒体的报道数据。所有数据均标注来源，便于追溯和验证。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0" name="Google Shape;3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9156" y="34004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3"/>
          <p:cNvSpPr/>
          <p:nvPr/>
        </p:nvSpPr>
        <p:spPr>
          <a:xfrm>
            <a:off x="4922044" y="3357563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局限性说明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4679156" y="3757613"/>
            <a:ext cx="4179094" cy="1428750"/>
          </a:xfrm>
          <a:prstGeom prst="rect">
            <a:avLst/>
          </a:prstGeom>
          <a:solidFill>
            <a:srgbClr val="FF7F0E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4679156" y="3757613"/>
            <a:ext cx="35719" cy="142875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4822031" y="3864769"/>
            <a:ext cx="3893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研究局限性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4822031" y="4150519"/>
            <a:ext cx="389334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由于银行业对数据保密性的要求，部分AI智能体的具体实施细节和完整量化效果数据未能公开。不同银行的统计口径和评估方法存在差异，可能影响数据的直接可比性。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4822031" y="4736306"/>
            <a:ext cx="38933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部分数据为厂商或银行披露的试点估测结果，不等同于经审计的财务数据。本研究尽可能标注数据的可信度等级，供决策参考。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2" name="Google Shape;4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506324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4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285750" y="142875"/>
            <a:ext cx="42939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一页总结：中国银行业AI智能体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285750" y="528638"/>
            <a:ext cx="362079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为高管决策提供的关键洞察与行动建议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6" name="Google Shape;4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067991"/>
            <a:ext cx="17145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4"/>
          <p:cNvSpPr/>
          <p:nvPr/>
        </p:nvSpPr>
        <p:spPr>
          <a:xfrm>
            <a:off x="528638" y="1028700"/>
            <a:ext cx="628678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238"/>
              <a:buFont typeface="Noto Sans"/>
              <a:buNone/>
            </a:pPr>
            <a:r>
              <a:rPr b="1" i="0" lang="en-US" sz="1238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市场现状 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8" name="Google Shape;4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141446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4"/>
          <p:cNvSpPr/>
          <p:nvPr/>
        </p:nvSpPr>
        <p:spPr>
          <a:xfrm>
            <a:off x="471488" y="1387673"/>
            <a:ext cx="2545017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中国银行业AI智能体应用始于2023年底，目前处于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3016504" y="1387673"/>
            <a:ext cx="685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快速发展阶段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3702304" y="1387673"/>
            <a:ext cx="685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，国有大行和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471488" y="1547682"/>
            <a:ext cx="10287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股份制银行走在前列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3" name="Google Shape;41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180591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4"/>
          <p:cNvSpPr/>
          <p:nvPr/>
        </p:nvSpPr>
        <p:spPr>
          <a:xfrm>
            <a:off x="471488" y="1779129"/>
            <a:ext cx="25146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工商银行和平安银行在部署规模上领先，分别覆盖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2986088" y="1779129"/>
            <a:ext cx="245064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22万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3231152" y="1779129"/>
            <a:ext cx="1143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和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3345452" y="1779129"/>
            <a:ext cx="245064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11万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3590516" y="1779129"/>
            <a:ext cx="2286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员工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9" name="Google Shape;41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750" y="2037364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4"/>
          <p:cNvSpPr/>
          <p:nvPr/>
        </p:nvSpPr>
        <p:spPr>
          <a:xfrm>
            <a:off x="471488" y="2008789"/>
            <a:ext cx="3706183" cy="160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数据分析（30%）、客户服务（20%）和营销获客（20%）是主要应用场景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1" name="Google Shape;42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750" y="2350963"/>
            <a:ext cx="17145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4"/>
          <p:cNvSpPr/>
          <p:nvPr/>
        </p:nvSpPr>
        <p:spPr>
          <a:xfrm>
            <a:off x="528638" y="2311673"/>
            <a:ext cx="628678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238"/>
              <a:buFont typeface="Noto Sans"/>
              <a:buNone/>
            </a:pPr>
            <a:r>
              <a:rPr b="1" i="0" lang="en-US" sz="1238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量化效益 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3" name="Google Shape;42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5750" y="2668860"/>
            <a:ext cx="4179094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4" name="Google Shape;42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5750" y="4279776"/>
            <a:ext cx="17145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4"/>
          <p:cNvSpPr/>
          <p:nvPr/>
        </p:nvSpPr>
        <p:spPr>
          <a:xfrm>
            <a:off x="528638" y="4240485"/>
            <a:ext cx="78584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238"/>
              <a:buFont typeface="Noto Sans"/>
              <a:buNone/>
            </a:pPr>
            <a:r>
              <a:rPr b="1" i="0" lang="en-US" sz="1238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挑战与风险 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6" name="Google Shape;426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85750" y="462624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4"/>
          <p:cNvSpPr/>
          <p:nvPr/>
        </p:nvSpPr>
        <p:spPr>
          <a:xfrm>
            <a:off x="471488" y="4599459"/>
            <a:ext cx="685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数据隐私保护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1157288" y="4599459"/>
            <a:ext cx="1600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：确保客户数据安全与合规使用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9" name="Google Shape;42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85750" y="4857694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4"/>
          <p:cNvSpPr/>
          <p:nvPr/>
        </p:nvSpPr>
        <p:spPr>
          <a:xfrm>
            <a:off x="471488" y="4830905"/>
            <a:ext cx="685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模型可解释性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157288" y="4830905"/>
            <a:ext cx="25146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：在信贷、风控等关键决策领域，确保模型透明度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2" name="Google Shape;432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85750" y="508914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4"/>
          <p:cNvSpPr/>
          <p:nvPr/>
        </p:nvSpPr>
        <p:spPr>
          <a:xfrm>
            <a:off x="471488" y="5062351"/>
            <a:ext cx="685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人机协作模式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1157288" y="5062351"/>
            <a:ext cx="2054889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：明确AI智能体与人工的边界与协作机制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79156" y="1067991"/>
            <a:ext cx="17145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4"/>
          <p:cNvSpPr/>
          <p:nvPr/>
        </p:nvSpPr>
        <p:spPr>
          <a:xfrm>
            <a:off x="4922044" y="1028700"/>
            <a:ext cx="628678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238"/>
              <a:buFont typeface="Noto Sans"/>
              <a:buNone/>
            </a:pPr>
            <a:r>
              <a:rPr b="1" i="0" lang="en-US" sz="1238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未来趋势 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79156" y="141446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4"/>
          <p:cNvSpPr/>
          <p:nvPr/>
        </p:nvSpPr>
        <p:spPr>
          <a:xfrm>
            <a:off x="4864894" y="1387673"/>
            <a:ext cx="685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行业化智能体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5550694" y="1387673"/>
            <a:ext cx="2743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：针对银行特定业务场景的垂直领域智能体将成为主流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0" name="Google Shape;440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679156" y="164590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4"/>
          <p:cNvSpPr/>
          <p:nvPr/>
        </p:nvSpPr>
        <p:spPr>
          <a:xfrm>
            <a:off x="4864894" y="1619120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联邦学习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5322094" y="1619120"/>
            <a:ext cx="30861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：在保障数据隐私的前提下，实现跨机构数据合作与模型训练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3" name="Google Shape;443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679156" y="187735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4"/>
          <p:cNvSpPr/>
          <p:nvPr/>
        </p:nvSpPr>
        <p:spPr>
          <a:xfrm>
            <a:off x="4864894" y="1850566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监管趋严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5322094" y="1850566"/>
            <a:ext cx="2283489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：监管机构将出台更完善的AI应用规范和标准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6" name="Google Shape;446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79156" y="2108802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4"/>
          <p:cNvSpPr/>
          <p:nvPr/>
        </p:nvSpPr>
        <p:spPr>
          <a:xfrm>
            <a:off x="4864894" y="2082012"/>
            <a:ext cx="685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智能体市场化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5550694" y="2082012"/>
            <a:ext cx="2169189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：将出现更多标准化的AI智能体产品和服务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9" name="Google Shape;449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679156" y="2422401"/>
            <a:ext cx="17145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4"/>
          <p:cNvSpPr/>
          <p:nvPr/>
        </p:nvSpPr>
        <p:spPr>
          <a:xfrm>
            <a:off x="4922044" y="2383110"/>
            <a:ext cx="628678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238"/>
              <a:buFont typeface="Noto Sans"/>
              <a:buNone/>
            </a:pPr>
            <a:r>
              <a:rPr b="1" i="0" lang="en-US" sz="1238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技术架构 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1" name="Google Shape;451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679156" y="276887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4"/>
          <p:cNvSpPr/>
          <p:nvPr/>
        </p:nvSpPr>
        <p:spPr>
          <a:xfrm>
            <a:off x="4864894" y="2742084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核心技术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5322094" y="2742084"/>
            <a:ext cx="2637244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：大语言模型 + Agent架构 + 知识图谱 + 向量数据库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4" name="Google Shape;454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679156" y="300031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4"/>
          <p:cNvSpPr/>
          <p:nvPr/>
        </p:nvSpPr>
        <p:spPr>
          <a:xfrm>
            <a:off x="4864894" y="2973530"/>
            <a:ext cx="457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部署模式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5322094" y="2973530"/>
            <a:ext cx="21717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：以私有化部署为主，确保数据安全与合规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4679156" y="3274628"/>
            <a:ext cx="4179094" cy="1290117"/>
          </a:xfrm>
          <a:prstGeom prst="rect">
            <a:avLst/>
          </a:prstGeom>
          <a:solidFill>
            <a:srgbClr val="FF7F0E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4679156" y="3274628"/>
            <a:ext cx="28575" cy="1290117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4786313" y="3381784"/>
            <a:ext cx="3964781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FF7F0E"/>
                </a:solidFill>
                <a:latin typeface="Noto Sans"/>
                <a:ea typeface="Noto Sans"/>
                <a:cs typeface="Noto Sans"/>
                <a:sym typeface="Noto Sans"/>
              </a:rPr>
              <a:t>高管行动建议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0" name="Google Shape;460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786313" y="367467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4"/>
          <p:cNvSpPr/>
          <p:nvPr/>
        </p:nvSpPr>
        <p:spPr>
          <a:xfrm>
            <a:off x="4972050" y="3647889"/>
            <a:ext cx="7962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短期（3-6个月）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5768271" y="3647889"/>
            <a:ext cx="27432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：选择数据分析场景作为切入点，启动小规模试点项目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3" name="Google Shape;463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86313" y="3891837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4"/>
          <p:cNvSpPr/>
          <p:nvPr/>
        </p:nvSpPr>
        <p:spPr>
          <a:xfrm>
            <a:off x="4972050" y="3865048"/>
            <a:ext cx="861603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中期（6-12个月）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5833653" y="3865048"/>
            <a:ext cx="28575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：扩大应用范围至客户服务和营销场景，建立完善的评估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4972050" y="4025057"/>
            <a:ext cx="2286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体系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7" name="Google Shape;467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786313" y="426900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4"/>
          <p:cNvSpPr/>
          <p:nvPr/>
        </p:nvSpPr>
        <p:spPr>
          <a:xfrm>
            <a:off x="4972050" y="4242215"/>
            <a:ext cx="6819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F77B4"/>
                </a:solidFill>
                <a:latin typeface="Noto Sans"/>
                <a:ea typeface="Noto Sans"/>
                <a:cs typeface="Noto Sans"/>
                <a:sym typeface="Noto Sans"/>
              </a:rPr>
              <a:t>长期（1-2年）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5653971" y="4242215"/>
            <a:ext cx="2971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：构建银行专属智能体平台，实现全行业务流程智能化升级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